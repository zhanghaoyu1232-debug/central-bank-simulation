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097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011680" cy="20116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530352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同业</a:t>
            </a:r>
            <a:br/>
            <a:r>
              <a:t>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流程 · 规则 · 输入与输出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模块：interbank_installment_rollover.py</a:t>
            </a:r>
            <a:br/>
            <a:r>
              <a:t>银行仿真每步同业 rollover 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49240"/>
            <a:ext cx="182880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速查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流程  →  规则  →  输入/输出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流程（每仿真步）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与源码注释 Step1→Step2→Step3→Step4 对应（结算放在最后）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25146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16002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Step1 · 成交入账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#1) Trade 事件</a:t>
            </a:r>
            <a:br/>
            <a:r>
              <a:t>_register_trade_contracts</a:t>
            </a:r>
            <a:br/>
            <a:r>
              <a:t>→ ContractBook</a:t>
            </a:r>
            <a:br/>
            <a:r>
              <a:t>(bullet / installment)</a:t>
            </a:r>
          </a:p>
        </p:txBody>
      </p:sp>
      <p:sp>
        <p:nvSpPr>
          <p:cNvPr id="13" name="Oval 12"/>
          <p:cNvSpPr/>
          <p:nvPr/>
        </p:nvSpPr>
        <p:spPr>
          <a:xfrm>
            <a:off x="40111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278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Step2 · 意图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#4) Step2</a:t>
            </a:r>
            <a:br/>
            <a:r>
              <a:t>collect_intentions</a:t>
            </a:r>
            <a:br/>
            <a:r>
              <a:t>保留价 bid/ask</a:t>
            </a:r>
            <a:br/>
            <a:r>
              <a:t>(跳过 rollover_blocked)</a:t>
            </a:r>
          </a:p>
        </p:txBody>
      </p:sp>
      <p:sp>
        <p:nvSpPr>
          <p:cNvPr id="16" name="Oval 15"/>
          <p:cNvSpPr/>
          <p:nvPr/>
        </p:nvSpPr>
        <p:spPr>
          <a:xfrm>
            <a:off x="7363967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4139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5579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Step3 · 撮合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#5) Step3</a:t>
            </a:r>
            <a:br/>
            <a:r>
              <a:t>RFQMarket.run 或</a:t>
            </a:r>
            <a:br/>
            <a:r>
              <a:t>_sparse_bipartite_update</a:t>
            </a:r>
            <a:br/>
            <a:r>
              <a:t>生成新同业边</a:t>
            </a:r>
          </a:p>
        </p:txBody>
      </p:sp>
      <p:sp>
        <p:nvSpPr>
          <p:cNvPr id="19" name="Oval 18"/>
          <p:cNvSpPr/>
          <p:nvPr/>
        </p:nvSpPr>
        <p:spPr>
          <a:xfrm>
            <a:off x="107167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694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838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Step4 · 结算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settle_interbank_period</a:t>
            </a:r>
            <a:br/>
            <a:r>
              <a:t>#7) Step4: EN + recovery</a:t>
            </a:r>
            <a:br/>
            <a:r>
              <a:t>分期先息后本；</a:t>
            </a:r>
            <a:br/>
            <a:r>
              <a:t>bullet 结清/rollover；</a:t>
            </a:r>
            <a:br/>
            <a:r>
              <a:t>输出 banks_in_rollover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69280"/>
            <a:ext cx="11155680" cy="6400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79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源码：decentralized 主流程注释 §1 Trade、§Step2、§Step3、§Step4。Step4 后更新 rollover_blocked，作用于下一步 Step2–3。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基本规则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合约类型：bullet（短久期、到期一次结清）或 installment（5–20 期，每期先息后本）。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成交选型（auto）：本金大或 LCR 低 → installment；本金小且 LCR 高 → bullet。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Rollover：rollover_mode 开启时，bullet 到期先结清，再以相同本金续为 5–20 期 installment。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分期偿付：每期先清算利息、再清算本金份额，对借贷双方走 EN 清算。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禁止拆东墙补西墙：仍有未还清分期的借款人，本步不得新增同业借款。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9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还款资金：借款人 liquid_assets + EN 清算（流动性不足时可触发央行 backstop）。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settle_interbank_period 与撮合阶段的接口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8288" cy="4892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输入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step — 当前仿真期数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ContractBook — 存续合约（对手方、schedule_type、本金、利率、已付期数等）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banks[] — 流动性、负债、LCR 相关字段、is_active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ScheduleConfig — rollover_mode、期限 5–20、利差、选型阈值等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新成交（撮合）— 金额、利率、借款人；borrower ∈ rollover_blocked 则拒绝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539496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输出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ContractBook — 分期推进/删除到期合约；bullet 续借则新增 installment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failed — 本步 EN 清算中违约的银行编号列表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rollover_blocked_borrowers — 本步禁止新增借款的借款人集合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控制台 — [rollover] banks_in_rollover=N bank_indices=[...]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银行状态 — 同业资产/负债与簿同步；清算后现金变动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