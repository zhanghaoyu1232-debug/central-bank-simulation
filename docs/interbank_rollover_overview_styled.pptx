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52D24-AA7E-4C26-A73E-A268804E06BF}" v="9" dt="2026-06-08T02:54:39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388" autoAdjust="0"/>
  </p:normalViewPr>
  <p:slideViewPr>
    <p:cSldViewPr snapToGrid="0" snapToObjects="1">
      <p:cViewPr>
        <p:scale>
          <a:sx n="100" d="100"/>
          <a:sy n="100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チョウ コウウ" userId="a23ebf7e-1bd4-43b1-a7da-870a5eb14c5f" providerId="ADAL" clId="{1EBADF38-0A77-4FCA-9E3B-3DB08772F32C}"/>
    <pc:docChg chg="custSel modSld sldOrd">
      <pc:chgData name="チョウ コウウ" userId="a23ebf7e-1bd4-43b1-a7da-870a5eb14c5f" providerId="ADAL" clId="{1EBADF38-0A77-4FCA-9E3B-3DB08772F32C}" dt="2026-06-08T02:54:29.512" v="26" actId="20577"/>
      <pc:docMkLst>
        <pc:docMk/>
      </pc:docMkLst>
      <pc:sldChg chg="delSp mod">
        <pc:chgData name="チョウ コウウ" userId="a23ebf7e-1bd4-43b1-a7da-870a5eb14c5f" providerId="ADAL" clId="{1EBADF38-0A77-4FCA-9E3B-3DB08772F32C}" dt="2026-06-08T02:03:05.576" v="6" actId="478"/>
        <pc:sldMkLst>
          <pc:docMk/>
          <pc:sldMk cId="0" sldId="256"/>
        </pc:sldMkLst>
        <pc:spChg chg="del">
          <ac:chgData name="チョウ コウウ" userId="a23ebf7e-1bd4-43b1-a7da-870a5eb14c5f" providerId="ADAL" clId="{1EBADF38-0A77-4FCA-9E3B-3DB08772F32C}" dt="2026-06-08T02:03:05.576" v="6" actId="478"/>
          <ac:spMkLst>
            <pc:docMk/>
            <pc:sldMk cId="0" sldId="256"/>
            <ac:spMk id="9" creationId="{00000000-0000-0000-0000-000000000000}"/>
          </ac:spMkLst>
        </pc:spChg>
      </pc:sldChg>
      <pc:sldChg chg="modSp mod modNotesTx">
        <pc:chgData name="チョウ コウウ" userId="a23ebf7e-1bd4-43b1-a7da-870a5eb14c5f" providerId="ADAL" clId="{1EBADF38-0A77-4FCA-9E3B-3DB08772F32C}" dt="2026-06-08T02:45:12.690" v="21" actId="20577"/>
        <pc:sldMkLst>
          <pc:docMk/>
          <pc:sldMk cId="0" sldId="257"/>
        </pc:sldMkLst>
        <pc:spChg chg="mod">
          <ac:chgData name="チョウ コウウ" userId="a23ebf7e-1bd4-43b1-a7da-870a5eb14c5f" providerId="ADAL" clId="{1EBADF38-0A77-4FCA-9E3B-3DB08772F32C}" dt="2026-06-08T02:03:45.749" v="9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3:48.576" v="10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3:54.340" v="1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3:57.797" v="1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4:13.968" v="14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4:08.865" v="13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4:28.195" v="15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チョウ コウウ" userId="a23ebf7e-1bd4-43b1-a7da-870a5eb14c5f" providerId="ADAL" clId="{1EBADF38-0A77-4FCA-9E3B-3DB08772F32C}" dt="2026-06-08T02:04:33.625" v="17" actId="20577"/>
          <ac:spMkLst>
            <pc:docMk/>
            <pc:sldMk cId="0" sldId="257"/>
            <ac:spMk id="21" creationId="{00000000-0000-0000-0000-000000000000}"/>
          </ac:spMkLst>
        </pc:spChg>
      </pc:sldChg>
      <pc:sldChg chg="modSp mod modNotesTx">
        <pc:chgData name="チョウ コウウ" userId="a23ebf7e-1bd4-43b1-a7da-870a5eb14c5f" providerId="ADAL" clId="{1EBADF38-0A77-4FCA-9E3B-3DB08772F32C}" dt="2026-06-08T02:53:57.131" v="25" actId="20577"/>
        <pc:sldMkLst>
          <pc:docMk/>
          <pc:sldMk cId="0" sldId="258"/>
        </pc:sldMkLst>
        <pc:spChg chg="mod">
          <ac:chgData name="チョウ コウウ" userId="a23ebf7e-1bd4-43b1-a7da-870a5eb14c5f" providerId="ADAL" clId="{1EBADF38-0A77-4FCA-9E3B-3DB08772F32C}" dt="2026-06-08T02:05:50.608" v="18" actId="20577"/>
          <ac:spMkLst>
            <pc:docMk/>
            <pc:sldMk cId="0" sldId="258"/>
            <ac:spMk id="4" creationId="{00000000-0000-0000-0000-000000000000}"/>
          </ac:spMkLst>
        </pc:spChg>
      </pc:sldChg>
      <pc:sldChg chg="ord modNotesTx">
        <pc:chgData name="チョウ コウウ" userId="a23ebf7e-1bd4-43b1-a7da-870a5eb14c5f" providerId="ADAL" clId="{1EBADF38-0A77-4FCA-9E3B-3DB08772F32C}" dt="2026-06-08T02:46:36.766" v="23" actId="20577"/>
        <pc:sldMkLst>
          <pc:docMk/>
          <pc:sldMk cId="0" sldId="259"/>
        </pc:sldMkLst>
      </pc:sldChg>
      <pc:sldChg chg="modNotesTx">
        <pc:chgData name="チョウ コウウ" userId="a23ebf7e-1bd4-43b1-a7da-870a5eb14c5f" providerId="ADAL" clId="{1EBADF38-0A77-4FCA-9E3B-3DB08772F32C}" dt="2026-06-08T02:54:29.512" v="26" actId="20577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18F0E-215E-4DDA-8CA1-2AB111AB952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95AFE-FB2C-4C35-90EB-D96BFA311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2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maps rollover as a four-step loop: Step 4 settlement (coupon/bullet payoff, optional bullet-to-installment renewal) produces coupon_due, coupon_cleared, and rollover_blocked; these states feed into the next period’s Step 1 trade booking, Step 2 borrow caps, and Step 3 match guards; new contracts are registered, and the cycle repeats. The key idea is that rollover is not a one-off maturity event—it runs through Trade → Intentions → Match → Settle, with cross-period continuity held in the ContractBook.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这一页把 rollover 概括成四步闭环：Step4 结算（付息付本、bullet 续借）产出 coupon_due、coupon_cleared、rollover_blocked；这些状态进入下一期的 Step1 成交选型、Step2 借款封顶、Step3 撮合过滤；新合约再入账，循环往复。要点是：rollover 不只在到期发生，而是贯穿 Trade → Intentions → Match → Settle；跨期连续性由 ContractBook 保存。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95AFE-FB2C-4C35-90EB-D96BFA311F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25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lays out six basic rollover rules: contracts are either bullet (short tenor, one-shot payoff) or installment (5–20 periods, interest-first each period); new trades auto-select installment for large principal or low LCR, bullet for small principal with high LCR; with rollover_mode on, a maturing bullet is repaid and re-opened as installment at the same principal; installment coupons clear via EN—interest first, then principal; default coupon_cleared policy blocks borrowing to fill liquidity gaps—coupon due must be cleared before project borrowing; repayment is funded from liquid_assets + EN, with optional central-bank backstop on shortfall.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这一页是 rollover 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六条基本规则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：合约分 bullet（短久期、到期一次结清）与 installment（5–20 期、每期先息后本）；新成交自动选型——金额大或 LCR 低走分期，金额小且 LCR 高走 bullet；rollover_mode 开启时，bullet 到期还清后同本金续借为 installment；分期还款经 EN 清算先付息再摊还本金；默认 coupon_cleared 政策禁止用新同业债补流动性缺口，有到期须先还清才允许项目借款；还款资金来自借款人 liquid_assets + EN，不足时可由央行流动性兜底。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Bullet 到期利率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：一次结清利率 = settlement_rate（通常取成交利率 / 基准利率口径）。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Installment 每期利率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：coupon_rate = settlement_rate + spread，spread 随期数线性插值——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期 +0.5%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期 +2.5%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（中间按期数插值）。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期数与本金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：本金 ≤ 5 万 → 5 期；≥ 200 万 → 20 期；中间按本金线性映射。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自动选型阈值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：本金 ≥ 40 万 → installment；≤ 25 万且 LCR ≥ 1.0 → bullet；LCR 偏低 → installment。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95AFE-FB2C-4C35-90EB-D96BFA311F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5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explains the default borrow policy coupon_cleared: it applies to banks with outstanding installment debt in rollover_blocked; banks not in rollover borrow as usual—liquidity gap plus project opportunity. During rollover,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interbank borrowing to fill liquidity gaps is blocked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if no coupon is due this step, borrowing is capped at the project-opportunity limit (compute_project_investment_borrow_cap); if a coupon is due, borrowing is allowed only after EN clearing puts the bank in coupon_cleared and the project cap is &gt; 0—otherwise quantity is 0. In code, Step 4 settlement runs before Step 2 intentions in the same period to populate coupon_due / coupon_cleared, implemented via rollover_borrow_quantity and ROLLOVER_BORROW_COUPON_CLEARED.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这一页讲默认借款政策 coupon_cleared：适用范围是仍有 installment 存续、处于 rollover_blocked 的银行；不在 rollover 的银行照旧——流动性缺口 + 项目机会均可借。在 rollover 期内，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禁止为补流动性缺口而借同业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；若本期无到期，只允许借到项目机会上限（compute_project_investment_borrow_cap）；若本期有到期，须先经 EN 还清当期息/本、进入 coupon_cleared，且项目上限 &gt; 0，才允许借，否则需求为 0。代码里同一期先跑 Step4 结算填好 coupon_due / coupon_cleared，再跑 Step2 意向，对应 rollover_borrow_quantity 与常量 ROLLOVER_BORROW_COUPON_CLEARED。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95AFE-FB2C-4C35-90EB-D96BFA311F3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242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maps the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 and outputs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each rollover call: inputs are the current step, ContractBook (lender/borrower, schedule_type, principal, rates, periods_paid), banks[] (liquid_assets, liabilities, LCR fields, is_active), ScheduleConfig (rollover_mode, 5–20 tenor, spreads, auto-selection thresholds), and new trades in matching (amount, rate, borrower—blocked if in rollover_blocked). Outputs by step: Step 4 yields an updated ContractBook, failed[], log_rollover_status, and rollover_blocked_borrowers; Step 1 adds new contracts and reuses the prior blocked set for reporting; Steps 2–3 ensure no new loans to blocked borrowers; bank state reflects interbank balances and cash after Step 4 EN clearing.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这一页列出 rollover 每次调用的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输入输出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：输入包括当期 step、ContractBook（lender/borrower、schedule_type、principal、rates、periods_paid）、banks[]（liquid_assets、负债、LCR 相关字段、is_active）、ScheduleConfig（rollover_mode、5–20 期、利差、自动选型阈值），以及撮合阶段的新成交（amount、rate、borrower；若借款人在 rollover_blocked 则拦截）。输出分四步：Step4 得到更新后的 ContractBook、failed[]、log_rollover_status、rollover_blocked_borrowers；Step1 产生新合约并沿用上期 blocked 集合做报表；Step2–3 确保 blocked 借款人不再新增贷款；银行状态为 Step4 EN 清算后的同业余额与现金。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95AFE-FB2C-4C35-90EB-D96BFA311F3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07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1097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011680" cy="20116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530352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Interbank</a:t>
            </a:r>
            <a:br/>
            <a:r>
              <a:t>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Segoe UI"/>
              </a:defRPr>
            </a:pPr>
            <a:r>
              <a:t>Flow · Rules · Inputs &amp;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Module: interbank_installment_rollover.py</a:t>
            </a:r>
            <a:br/>
            <a:r>
              <a:t>Per-step settlement in bank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60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4155"/>
                </a:solidFill>
                <a:latin typeface="Segoe UI"/>
              </a:defRPr>
            </a:pPr>
            <a:r>
              <a:t>Process  →  coupon_cleared  →  Rules  →  I/O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Rollover × Step1–4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Each column: source step (decentralized comments) + which rollover piece runs there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10515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783" y="3387268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3866" y="3557936"/>
            <a:ext cx="1996059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Step1 · Trade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br>
              <a:rPr dirty="0"/>
            </a:br>
            <a:br>
              <a:rPr dirty="0"/>
            </a:br>
            <a:r>
              <a:rPr dirty="0"/>
              <a:t>Rollover here:</a:t>
            </a:r>
            <a:br>
              <a:rPr dirty="0"/>
            </a:br>
            <a:r>
              <a:rPr dirty="0"/>
              <a:t>• Report — read </a:t>
            </a:r>
            <a:r>
              <a:rPr dirty="0" err="1"/>
              <a:t>banks_in_rollover</a:t>
            </a:r>
            <a:r>
              <a:rPr dirty="0"/>
              <a:t> /</a:t>
            </a:r>
            <a:br>
              <a:rPr dirty="0"/>
            </a:br>
            <a:r>
              <a:rPr dirty="0"/>
              <a:t>  </a:t>
            </a:r>
            <a:r>
              <a:rPr dirty="0" err="1"/>
              <a:t>rollover_blocked</a:t>
            </a:r>
            <a:r>
              <a:rPr dirty="0"/>
              <a:t> (from last Step4)</a:t>
            </a:r>
            <a:br>
              <a:rPr dirty="0"/>
            </a:br>
            <a:r>
              <a:rPr dirty="0"/>
              <a:t>• Book — </a:t>
            </a:r>
            <a:r>
              <a:rPr dirty="0" err="1"/>
              <a:t>choose_trade_schedule</a:t>
            </a:r>
            <a:br>
              <a:rPr dirty="0"/>
            </a:br>
            <a:r>
              <a:rPr dirty="0"/>
              <a:t>  bullet vs installment</a:t>
            </a:r>
            <a:br>
              <a:rPr dirty="0"/>
            </a:br>
            <a:r>
              <a:rPr dirty="0"/>
              <a:t>• Register new contracts</a:t>
            </a:r>
          </a:p>
        </p:txBody>
      </p:sp>
      <p:sp>
        <p:nvSpPr>
          <p:cNvPr id="13" name="Oval 12"/>
          <p:cNvSpPr/>
          <p:nvPr/>
        </p:nvSpPr>
        <p:spPr>
          <a:xfrm>
            <a:off x="40111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3217" y="3415284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68629" y="3584351"/>
            <a:ext cx="1906291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Step2 · Intentions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br>
              <a:rPr dirty="0"/>
            </a:br>
            <a:br>
              <a:rPr dirty="0"/>
            </a:br>
            <a:r>
              <a:rPr dirty="0"/>
              <a:t>Rollover here:</a:t>
            </a:r>
            <a:br>
              <a:rPr dirty="0"/>
            </a:br>
            <a:r>
              <a:rPr dirty="0"/>
              <a:t>• Cap — </a:t>
            </a:r>
            <a:r>
              <a:rPr dirty="0" err="1"/>
              <a:t>rollover_borrow_quantity</a:t>
            </a:r>
            <a:br>
              <a:rPr dirty="0"/>
            </a:br>
            <a:r>
              <a:rPr dirty="0"/>
              <a:t>  (policy </a:t>
            </a:r>
            <a:r>
              <a:rPr dirty="0" err="1"/>
              <a:t>coupon_cleared</a:t>
            </a:r>
            <a:r>
              <a:rPr dirty="0"/>
              <a:t>):</a:t>
            </a:r>
            <a:br>
              <a:rPr dirty="0"/>
            </a:br>
            <a:r>
              <a:rPr dirty="0"/>
              <a:t>  coupon due → must clear</a:t>
            </a:r>
            <a:br>
              <a:rPr dirty="0"/>
            </a:br>
            <a:r>
              <a:rPr dirty="0"/>
              <a:t>  this step + </a:t>
            </a:r>
            <a:r>
              <a:rPr dirty="0" err="1"/>
              <a:t>proj</a:t>
            </a:r>
            <a:r>
              <a:rPr dirty="0"/>
              <a:t> cap&gt;0;</a:t>
            </a:r>
            <a:br>
              <a:rPr dirty="0"/>
            </a:br>
            <a:r>
              <a:rPr dirty="0"/>
              <a:t>  no due → project cap only</a:t>
            </a:r>
          </a:p>
        </p:txBody>
      </p:sp>
      <p:sp>
        <p:nvSpPr>
          <p:cNvPr id="16" name="Oval 15"/>
          <p:cNvSpPr/>
          <p:nvPr/>
        </p:nvSpPr>
        <p:spPr>
          <a:xfrm>
            <a:off x="7363967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4139" y="3406724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7291" y="3730752"/>
            <a:ext cx="2124299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Step3 · Match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br>
              <a:rPr dirty="0"/>
            </a:br>
            <a:br>
              <a:rPr dirty="0"/>
            </a:br>
            <a:r>
              <a:rPr dirty="0"/>
              <a:t>Rollover here:</a:t>
            </a:r>
            <a:br>
              <a:rPr dirty="0"/>
            </a:br>
            <a:r>
              <a:rPr dirty="0"/>
              <a:t>• Match guard —</a:t>
            </a:r>
            <a:br>
              <a:rPr dirty="0"/>
            </a:br>
            <a:r>
              <a:rPr dirty="0"/>
              <a:t>  </a:t>
            </a:r>
            <a:r>
              <a:rPr dirty="0" err="1"/>
              <a:t>filter_borrowers_for</a:t>
            </a:r>
            <a:r>
              <a:rPr dirty="0"/>
              <a:t>_</a:t>
            </a:r>
            <a:br>
              <a:rPr dirty="0"/>
            </a:br>
            <a:r>
              <a:rPr dirty="0"/>
              <a:t>  </a:t>
            </a:r>
            <a:r>
              <a:rPr dirty="0" err="1"/>
              <a:t>rollover_block</a:t>
            </a:r>
            <a:r>
              <a:rPr dirty="0"/>
              <a:t>; </a:t>
            </a:r>
            <a:r>
              <a:rPr lang="en-US" dirty="0"/>
              <a:t>RFQ &amp; trade 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 lang="en-US" dirty="0"/>
              <a:t>  registration reject blocked borrowers</a:t>
            </a:r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107167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6940" y="3415284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80092" y="3536442"/>
            <a:ext cx="1491114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Step4 · Settle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br>
              <a:rPr dirty="0"/>
            </a:br>
            <a:br>
              <a:rPr dirty="0"/>
            </a:br>
            <a:r>
              <a:rPr dirty="0"/>
              <a:t>Rollover here:</a:t>
            </a:r>
            <a:br>
              <a:rPr dirty="0"/>
            </a:br>
            <a:r>
              <a:rPr dirty="0"/>
              <a:t>• Settle — coupon pay;</a:t>
            </a:r>
            <a:br>
              <a:rPr dirty="0"/>
            </a:br>
            <a:r>
              <a:rPr dirty="0"/>
              <a:t>  bullet payoff</a:t>
            </a:r>
            <a:br>
              <a:rPr dirty="0"/>
            </a:br>
            <a:r>
              <a:rPr dirty="0"/>
              <a:t>• Renew — bullet →</a:t>
            </a:r>
            <a:br>
              <a:rPr dirty="0"/>
            </a:br>
            <a:r>
              <a:rPr dirty="0"/>
              <a:t>  installment if on</a:t>
            </a:r>
            <a:br>
              <a:rPr dirty="0"/>
            </a:br>
            <a:r>
              <a:rPr dirty="0"/>
              <a:t>• Report — </a:t>
            </a:r>
            <a:r>
              <a:rPr dirty="0" err="1"/>
              <a:t>coupon_due</a:t>
            </a:r>
            <a:r>
              <a:rPr dirty="0"/>
              <a:t> /</a:t>
            </a:r>
            <a:br>
              <a:rPr dirty="0"/>
            </a:br>
            <a:r>
              <a:rPr dirty="0"/>
              <a:t>  </a:t>
            </a:r>
            <a:r>
              <a:rPr dirty="0" err="1"/>
              <a:t>coupon_cleared</a:t>
            </a:r>
            <a:r>
              <a:rPr dirty="0"/>
              <a:t> sets;</a:t>
            </a:r>
            <a:br>
              <a:rPr dirty="0"/>
            </a:br>
            <a:r>
              <a:rPr dirty="0"/>
              <a:t>  </a:t>
            </a:r>
            <a:r>
              <a:rPr dirty="0" err="1"/>
              <a:t>rollover_blocked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502920" y="5989320"/>
            <a:ext cx="11155680" cy="6858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108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Loop per period t: Step4ₜ → (blocked, log) → Step1ₜ₊₁ report/book → Step2ₜ₊₁ block → Step3ₜ₊₁ match → Step4ₜ₊₁ settle. (In simulate_step, Step4 may run before Step1–3 in the same t — same mapping.)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Basic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Contracts: bullet (short, one-shot payoff) or installment (5–20 periods, interest-first each period).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New trade schedule (auto): large principal or low LCR → installment; small + high LCR → bullet.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Rollover: when rollover_mode is on, bullet maturity repays then re-opens same principal as new installment (5–20 periods).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Installment repayment: each coupon clears interest, then principal slice, via EN clearing on the lender–borrower pair.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Borrow policy (default coupon_cleared): rollover borrowers with a coupon due this step may borrow only after that coupon clears via EN and project borrow cap &gt; 0; no due → project cap only; liquidity-gap borrow blocked.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692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Repayment funding: borrower liquid_assets + EN clearing only (optional central-bank liquidity backstop on shortfall).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Borrow policy: </a:t>
            </a:r>
            <a:r>
              <a:rPr dirty="0" err="1"/>
              <a:t>coupon_cleared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rollover_borrow_quantity · checked each Step2 (intentions) /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298448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35331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Who is 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09344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Banks with outstanding installment debt (rollover_blocked / active_installment_rollover_borrowers).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249424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Not in rollover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05456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Normal borrow: liquidity need + project-opportunity need (unchanged).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90672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090672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45536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Rollover — no coupon due this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01568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May borrow only up to project-opportunity cap (compute_project_investment_borrow_cap). Liquidity-gap interbank borrow is blocked.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86784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4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0416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Rollover — coupon due this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May borrow only if: (1) borrower ∈ coupon_cleared (all installment coupons due this step paid via EN), and (2) project cap &gt; 0. Otherwise quantity = 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82896"/>
            <a:ext cx="73152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882896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9377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Step4 → Step2 (same period 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settle_interbank_period fills coupon_due_borrowers &amp; coupon_cleared_borrowers; simulate_step runs settlement before collect_intentions / bipartite match.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961888"/>
            <a:ext cx="11155680" cy="7132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6080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Constant: ROLLOVER_BORROW_COUPON_CLEARED · Function: rollover_borrow_quantity in interbank_installment_rollover.py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Inputs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Per call to settle_interbank_period and the matching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8288" cy="4892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39496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step — current simulation period (int)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ContractBook — active contracts (lender, borrower, schedule_type, principal, rates, periods_paid)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banks[] — liquid_assets, liabilities, LCR-related fields, is_active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ScheduleConfig — rollover_mode, tenor 5–20, spreads, schedule_selection, principal thresholds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65776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15721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New trades (matching) — amount, rate, borrower; blocked if borrower ∈ rollover_blocked_borrowers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539496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Step4: updated ContractBook; failed[]; log_rollover_status; rollover_blocked_borrowers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Step1: new contracts; uses prior Step4 blocked set for reporting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Step2–3: no new loans to blocked borrowers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Bank state — interbank balances &amp; cash after EN clearing (Step4)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2026</Words>
  <Application>Microsoft Office PowerPoint</Application>
  <PresentationFormat>宽屏</PresentationFormat>
  <Paragraphs>77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haoyu zhang</cp:lastModifiedBy>
  <cp:revision>1</cp:revision>
  <dcterms:created xsi:type="dcterms:W3CDTF">2013-01-27T09:14:16Z</dcterms:created>
  <dcterms:modified xsi:type="dcterms:W3CDTF">2026-06-08T03:54:39Z</dcterms:modified>
  <cp:category/>
</cp:coreProperties>
</file>