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365D"/>
                </a:solidFill>
              </a:defRPr>
            </a:pPr>
            <a:r>
              <a:t>同业 Rollover 机制与代码结构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bank_simulation · interbank_installment_rollover.py</a:t>
            </a:r>
            <a:br/>
            <a:r>
              <a:t>中央调控仿真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1. 模块分工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interbank_installment_rollover.py — 核心：参数、选型、计息、结算、续借、统计与封锁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bank_simulation_model_github_central_policy.py — ContractBook + 矩阵与簿同步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bank_simulation_model_decentralized_central_policy.py — 同上 + RFQ 撮合路径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注意：policy_rollover 是央行支持贷款展期，与同业 installment 无关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2. 两种合约结构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bullet — 短久期（默认 2 期），到期按 settlement_rate 一次先息后本结清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installment — 5~20 期，每期 coupon_rate（高于 bullet），先息后本均摊本金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成交选型 choose_trade_schedule（auto）：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· 本金 ≥ 40 万 → installment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· 本金 ≤ 25 万且 LCR 高 → bullet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· LCR 低 → installment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期数：本金在 5 万~200 万间线性映射到 5~20 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每步仿真流程（同业 rollover）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508760" cy="1417320"/>
          </a:xfrm>
          <a:prstGeom prst="rect">
            <a:avLst/>
          </a:prstGeom>
          <a:solidFill>
            <a:srgbClr val="E8F4F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07592"/>
            <a:ext cx="150876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A365D"/>
                </a:solidFill>
              </a:defRPr>
            </a:pPr>
            <a:r>
              <a:t>1. 结算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settle_interbank_period</a:t>
            </a:r>
            <a:br/>
            <a:r>
              <a:t>先息后本 + EN 清算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9968" y="1234440"/>
            <a:ext cx="1508760" cy="1417320"/>
          </a:xfrm>
          <a:prstGeom prst="rect">
            <a:avLst/>
          </a:prstGeom>
          <a:solidFill>
            <a:srgbClr val="E8F4F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29968" y="1307592"/>
            <a:ext cx="150876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A365D"/>
                </a:solidFill>
              </a:defRPr>
            </a:pPr>
            <a:r>
              <a:t>2. 统计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log_rollover_status</a:t>
            </a:r>
            <a:br/>
            <a:r>
              <a:t>打印 banks_in_rollover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48456" y="1234440"/>
            <a:ext cx="1508760" cy="1417320"/>
          </a:xfrm>
          <a:prstGeom prst="rect">
            <a:avLst/>
          </a:prstGeom>
          <a:solidFill>
            <a:srgbClr val="E8F4F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8456" y="1307592"/>
            <a:ext cx="150876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A365D"/>
                </a:solidFill>
              </a:defRPr>
            </a:pPr>
            <a:r>
              <a:t>3. 封锁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rollover_blocked_borrowers</a:t>
            </a:r>
            <a:br/>
            <a:r>
              <a:t>禁止新增同业借款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66944" y="1234440"/>
            <a:ext cx="1508760" cy="1417320"/>
          </a:xfrm>
          <a:prstGeom prst="rect">
            <a:avLst/>
          </a:prstGeom>
          <a:solidFill>
            <a:srgbClr val="E8F4F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66944" y="1307592"/>
            <a:ext cx="150876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A365D"/>
                </a:solidFill>
              </a:defRPr>
            </a:pPr>
            <a:r>
              <a:t>4. 撮合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成交 / RFQ</a:t>
            </a:r>
            <a:br/>
            <a:r>
              <a:t>blocked 银行不进借款人池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85431" y="1234440"/>
            <a:ext cx="1508760" cy="1417320"/>
          </a:xfrm>
          <a:prstGeom prst="rect">
            <a:avLst/>
          </a:prstGeom>
          <a:solidFill>
            <a:srgbClr val="E8F4F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5431" y="1307592"/>
            <a:ext cx="150876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A365D"/>
                </a:solidFill>
              </a:defRPr>
            </a:pPr>
            <a:r>
              <a:t>5. 入账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ContractBook</a:t>
            </a:r>
            <a:br/>
            <a:r>
              <a:t>bullet 或 installment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196596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7088" y="196596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847088" y="196596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0E7C86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3465576" y="196596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5576" y="196596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3465576" y="196596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0E7C86"/>
                </a:solidFill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084064" y="196596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4064" y="196596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084064" y="196596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0E7C86"/>
                </a:solidFill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702552" y="196596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2552" y="196596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702552" y="1965960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0E7C86"/>
                </a:solidFill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502920" y="3063240"/>
            <a:ext cx="813816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55555"/>
                </a:solidFill>
              </a:defRPr>
            </a:pPr>
            <a:r>
              <a:t>• installment 每期：利息清算 → 本金清算 → 更新 periods_paid</a:t>
            </a:r>
          </a:p>
          <a:p>
            <a:pPr>
              <a:defRPr sz="1500">
                <a:solidFill>
                  <a:srgbClr val="555555"/>
                </a:solidFill>
              </a:defRPr>
            </a:pPr>
            <a:r>
              <a:t>• bullet 到期：先息后本结清；若 rollover_mode 开启 → 续为 5–20 期 installment</a:t>
            </a:r>
          </a:p>
          <a:p>
            <a:pPr>
              <a:defRPr sz="1500">
                <a:solidFill>
                  <a:srgbClr val="555555"/>
                </a:solidFill>
              </a:defRPr>
            </a:pPr>
            <a:r>
              <a:t>• 存续分期借款人：只能用自有流动性还款，不得借新还旧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4. 监管约束：禁止拆东墙补西墙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定义：active_installment_rollover_borrowers = 仍有未还清 installment 的借款人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每步结算后打印：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[rollover] banks_in_rollover=N bank_indices=[...]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封锁点（存续分期借款人不得新增同业借款）：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· collect_intentions 跳过借款意图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· RFQ / _sparse_bipartite_update 剔除借款人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  · 成交落地与 _register_trade_contracts 二次拦截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还款来源：仅 liquid_assets + EN 清算（+ 可选央行 backstop）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0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0E7C86"/>
                </a:solidFill>
              </a:defRPr>
            </a:pPr>
            <a:r>
              <a:t>关键函数：log_rollover_status · filter_borrowers_for_rollover_block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github vs decentralized（合约层相同）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8412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5791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github_central_policy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decentralized_central_policy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365D"/>
                          </a:solidFill>
                        </a:defRPr>
                      </a:pPr>
                      <a:r>
                        <a:t>合约真源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555555"/>
                          </a:solidFill>
                        </a:defRPr>
                      </a:pPr>
                      <a:r>
                        <a:t>ContractBook + 共享模块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555555"/>
                          </a:solidFill>
                        </a:defRPr>
                      </a:pPr>
                      <a:r>
                        <a:t>同左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365D"/>
                          </a:solidFill>
                        </a:defRPr>
                      </a:pPr>
                      <a:r>
                        <a:t>敞口矩阵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555555"/>
                          </a:solidFill>
                        </a:defRPr>
                      </a:pPr>
                      <a:r>
                        <a:t>结算后从 ContractBook 聚合，跨期保留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555555"/>
                          </a:solidFill>
                        </a:defRPr>
                      </a:pPr>
                      <a:r>
                        <a:t>每期 exposure_matrix 清零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365D"/>
                          </a:solidFill>
                        </a:defRPr>
                      </a:pPr>
                      <a:r>
                        <a:t>撮合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555555"/>
                          </a:solidFill>
                        </a:defRPr>
                      </a:pPr>
                      <a:r>
                        <a:t>_sparse_bipartite_update 直接入账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555555"/>
                          </a:solidFill>
                        </a:defRPr>
                      </a:pPr>
                      <a:r>
                        <a:t>intentions → RFQ → _register_trade_contracts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365D"/>
                          </a:solidFill>
                        </a:defRPr>
                      </a:pPr>
                      <a:r>
                        <a:t>借款封锁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555555"/>
                          </a:solidFill>
                        </a:defRPr>
                      </a:pPr>
                      <a:r>
                        <a:t>filter_borrowers + 成交拦截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555555"/>
                          </a:solidFill>
                        </a:defRPr>
                      </a:pPr>
                      <a:r>
                        <a:t>collect_intentions + RFQ + 入账拦截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365D"/>
                          </a:solidFill>
                        </a:defRPr>
                      </a:pPr>
                      <a:r>
                        <a:t>policy_rollover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555555"/>
                          </a:solidFill>
                        </a:defRPr>
                      </a:pPr>
                      <a:r>
                        <a:t>央行支持贷款展期（独立）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555555"/>
                          </a:solidFill>
                        </a:defRPr>
                      </a:pPr>
                      <a:r>
                        <a:t>同左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6. 关键参数默认值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138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rollover_mode = installment（bullet 到期可续借为分期）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rollover_min_tenor / max_tenor = 5 / 20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rollover_ref_small / ref_large = 50,000 / 2,000,000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rollover_spread_short / spread_long = 0.5% / 2.5%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installment_min_principal = 400,000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interbank_contract_maturity（bullet）= 2 期</a:t>
            </a: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555555"/>
                </a:solidFill>
              </a:defRPr>
            </a:pPr>
            <a:r>
              <a:t>核心入口：settle_interbank_period · _settle_interbank_installment_period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