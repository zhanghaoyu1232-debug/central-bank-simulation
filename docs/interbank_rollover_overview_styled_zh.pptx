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チョウ コウウ" userId="a23ebf7e-1bd4-43b1-a7da-870a5eb14c5f" providerId="ADAL" clId="{1EBADF38-0A77-4FCA-9E3B-3DB08772F32C}"/>
    <pc:docChg chg="custSel modSld sldOrd">
      <pc:chgData name="チョウ コウウ" userId="a23ebf7e-1bd4-43b1-a7da-870a5eb14c5f" providerId="ADAL" clId="{1EBADF38-0A77-4FCA-9E3B-3DB08772F32C}" dt="2026-06-08T02:06:13.244" v="2"/>
      <pc:docMkLst>
        <pc:docMk/>
      </pc:docMkLst>
      <pc:sldChg chg="delSp mod">
        <pc:chgData name="チョウ コウウ" userId="a23ebf7e-1bd4-43b1-a7da-870a5eb14c5f" providerId="ADAL" clId="{1EBADF38-0A77-4FCA-9E3B-3DB08772F32C}" dt="2026-06-08T02:03:09.537" v="0" actId="478"/>
        <pc:sldMkLst>
          <pc:docMk/>
          <pc:sldMk cId="0" sldId="256"/>
        </pc:sldMkLst>
        <pc:spChg chg="del">
          <ac:chgData name="チョウ コウウ" userId="a23ebf7e-1bd4-43b1-a7da-870a5eb14c5f" providerId="ADAL" clId="{1EBADF38-0A77-4FCA-9E3B-3DB08772F32C}" dt="2026-06-08T02:03:09.537" v="0" actId="478"/>
          <ac:spMkLst>
            <pc:docMk/>
            <pc:sldMk cId="0" sldId="256"/>
            <ac:spMk id="9" creationId="{00000000-0000-0000-0000-000000000000}"/>
          </ac:spMkLst>
        </pc:spChg>
      </pc:sldChg>
      <pc:sldChg chg="ord">
        <pc:chgData name="チョウ コウウ" userId="a23ebf7e-1bd4-43b1-a7da-870a5eb14c5f" providerId="ADAL" clId="{1EBADF38-0A77-4FCA-9E3B-3DB08772F32C}" dt="2026-06-08T02:06:13.244" v="2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097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011680" cy="20116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530352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同业</a:t>
            </a:r>
            <a:br/>
            <a:r>
              <a:t>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流程 · 规则 · 输入与输出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模块：interbank_installment_rollover.py</a:t>
            </a:r>
            <a:br/>
            <a:r>
              <a:t>银行仿真每步同业 rollover 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流程  →  coupon_cleared  →  规则  →  输入/输出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Rollover 与 Step1–4 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每列：源码步骤（decentralized 注释）+ 该步执行的 rollover 环节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251460" y="36576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178308" y="3730752"/>
            <a:ext cx="20025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Step1 · 成交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源码：#1) Trade</a:t>
            </a:r>
            <a:br/>
            <a:r>
              <a:t>_register_trade_contracts</a:t>
            </a:r>
            <a:br/>
            <a:br/>
            <a:r>
              <a:t>Rollover：</a:t>
            </a:r>
            <a:br/>
            <a:r>
              <a:t>• 统计 — 读取 banks_in_rollover /</a:t>
            </a:r>
            <a:br/>
            <a:r>
              <a:t>  rollover_blocked（上一步 Step4 产出）</a:t>
            </a:r>
            <a:br/>
            <a:r>
              <a:t>• 选型 — choose_trade_schedule</a:t>
            </a:r>
            <a:br/>
            <a:r>
              <a:t>  bullet / installment</a:t>
            </a:r>
            <a:br/>
            <a:r>
              <a:t>• 入账 — 新合约写入簿</a:t>
            </a:r>
          </a:p>
        </p:txBody>
      </p:sp>
      <p:sp>
        <p:nvSpPr>
          <p:cNvPr id="13" name="Oval 12"/>
          <p:cNvSpPr/>
          <p:nvPr/>
        </p:nvSpPr>
        <p:spPr>
          <a:xfrm>
            <a:off x="40111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36576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4492" y="3730752"/>
            <a:ext cx="20025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Step2 · 意图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源码：#4) Step2</a:t>
            </a:r>
            <a:br/>
            <a:r>
              <a:t> collect_intentions</a:t>
            </a:r>
            <a:br/>
            <a:br/>
            <a:r>
              <a:t>Rollover：</a:t>
            </a:r>
            <a:br/>
            <a:r>
              <a:t>• 额度 — rollover_borrow_quantity</a:t>
            </a:r>
            <a:br/>
            <a:r>
              <a:t>  （默认 coupon_cleared）：</a:t>
            </a:r>
            <a:br/>
            <a:r>
              <a:t>  本期有到期 → 须还清</a:t>
            </a:r>
            <a:br/>
            <a:r>
              <a:t>  且项目融资能力&gt;0；</a:t>
            </a:r>
            <a:br/>
            <a:r>
              <a:t>  无到期 → 仅项目额度</a:t>
            </a:r>
          </a:p>
        </p:txBody>
      </p:sp>
      <p:sp>
        <p:nvSpPr>
          <p:cNvPr id="16" name="Oval 15"/>
          <p:cNvSpPr/>
          <p:nvPr/>
        </p:nvSpPr>
        <p:spPr>
          <a:xfrm>
            <a:off x="7363967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4139" y="36576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7291" y="3730752"/>
            <a:ext cx="20025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Step3 · 撮合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源码：#5) Step3</a:t>
            </a:r>
            <a:br/>
            <a:r>
              <a:t> RFQ / 双边撮合</a:t>
            </a:r>
            <a:br/>
            <a:br/>
            <a:r>
              <a:t>Rollover：</a:t>
            </a:r>
            <a:br/>
            <a:r>
              <a:t>• 撮合拦截 —</a:t>
            </a:r>
            <a:br/>
            <a:r>
              <a:t>  filter_borrowers；</a:t>
            </a:r>
            <a:br/>
            <a:r>
              <a:t>  RFQ 与成交登记</a:t>
            </a:r>
            <a:br/>
            <a:r>
              <a:t>  拒绝 blocked 借款人</a:t>
            </a:r>
          </a:p>
        </p:txBody>
      </p:sp>
      <p:sp>
        <p:nvSpPr>
          <p:cNvPr id="19" name="Oval 18"/>
          <p:cNvSpPr/>
          <p:nvPr/>
        </p:nvSpPr>
        <p:spPr>
          <a:xfrm>
            <a:off x="107167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6940" y="36576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0092" y="3730752"/>
            <a:ext cx="20025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Step4 · 结算</a:t>
            </a:r>
          </a:p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源码：#7) Step4</a:t>
            </a:r>
            <a:br/>
            <a:r>
              <a:t> EN + recovery</a:t>
            </a:r>
            <a:br/>
            <a:r>
              <a:t> settle_interbank_period</a:t>
            </a:r>
            <a:br/>
            <a:br/>
            <a:r>
              <a:t>Rollover：</a:t>
            </a:r>
            <a:br/>
            <a:r>
              <a:t>• 结算 — 分期先息后本；</a:t>
            </a:r>
            <a:br/>
            <a:r>
              <a:t>  bullet 到期结清</a:t>
            </a:r>
            <a:br/>
            <a:r>
              <a:t>• 续借 — bullet→installment</a:t>
            </a:r>
            <a:br/>
            <a:r>
              <a:t>• 统计 — coupon_due /</a:t>
            </a:r>
            <a:br/>
            <a:r>
              <a:t>  coupon_cleared；</a:t>
            </a:r>
            <a:br/>
            <a:r>
              <a:t>  rollover_blocked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989320"/>
            <a:ext cx="11155680" cy="6858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108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Microsoft YaHei"/>
              </a:defRPr>
            </a:pPr>
            <a:r>
              <a:t>周期 t：Step4ₜ 结算并统计 → Step1ₜ₊₁ 读状态并入账 → Step2ₜ₊₁ 封锁 → Step3ₜ₊₁ 撮合 → Step4ₜ₊₁ 结算。（simulate_step 同期 t 内可能先执行 Step4 再 Step1–3，对应关系不变。）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基本规则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合约类型：bullet（短久期、到期一次结清）或 installment（5–20 期，每期先息后本）。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成交选型（auto）：本金大或 LCR 低 → installment；本金小且 LCR 高 → bullet。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Rollover：rollover_mode 开启时，bullet 到期先结清，再以相同本金续为 5–20 期 installment。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分期偿付：每期先清算利息、再清算本金份额，对借贷双方走 EN 清算。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借款政策（默认 coupon_cleared）：本期有分期到期的 rollover 借款人，须当期息/本经 EN 还清且项目融资额度&gt;0 才可借；本期无到期仅允许项目额度；禁止用同业新借补流动性缺口。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9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Microsoft YaHei"/>
              </a:defRPr>
            </a:pPr>
            <a:r>
              <a:t>还款资金：借款人 liquid_assets + EN 清算（流动性不足时可触发央行 backstop）。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借款政策：coupon_cleared（默认）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rollover_borrow_quantity · 每步 Step2 意图 / 撮合时检查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298448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35331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适用对象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09344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仍有未还清同业分期的借款人（rollover_blocked / active_installment_rollover_borrowers）。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249424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非 rollover 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05456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按原逻辑：流动性缺口需求 + 项目机会需求均可计入借款意图。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0672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090672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45536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rollover · 本期无分期到期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01568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仅允许借至项目融资额度上限（compute_project_investment_borrow_cap）；禁止用同业新借补流动性缺口。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4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416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rollover · 本期有分期到期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仅当：(1) 借款人 ∈ coupon_cleared（本期所有到期合约经 EN 付清），且 (2) 项目融资额度 &gt; 0，才允许按项目额度借；否则额度为 0。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82896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882896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937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Step4 → Step2（同期 t）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settle_interbank_period 产出 coupon_due_borrowers、coupon_cleared_borrowers；simulate_step 先结算再生成意图/撮合。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61888"/>
            <a:ext cx="11155680" cy="7132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080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Microsoft YaHei"/>
              </a:defRPr>
            </a:pPr>
            <a:r>
              <a:t>常量 ROLLOVER_BORROW_COUPON_CLEARED · 函数 rollover_borrow_quantity（interbank_installment_rollover.py）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输入与输出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settle_interbank_period 与撮合阶段的接口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同业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8288" cy="4892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输入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step — 当前仿真期数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ContractBook — 存续合约（对手方、schedule_type、本金、利率、已付期数等）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banks[] — 流动性、负债、LCR 相关字段、is_active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ScheduleConfig — rollover_mode、期限 5–20、利差、选型阈值等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新成交（撮合）— 金额、利率、借款人；borrower ∈ rollover_blocked 则拒绝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539496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输出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Step4：更新 ContractBook；failed[]；log_rollover_status；rollover_blocked_borrowers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Step1：新合约；读取上一步 Step4 的 blocked 集合用于统计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Step2–3：blocked 银行无新增借款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• 银行状态 — Step4 清算后同业科目与现金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658</Words>
  <Application>Microsoft Office PowerPoint</Application>
  <PresentationFormat>宽屏</PresentationFormat>
  <Paragraphs>60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haoyu zhang</cp:lastModifiedBy>
  <cp:revision>1</cp:revision>
  <dcterms:created xsi:type="dcterms:W3CDTF">2013-01-27T09:14:16Z</dcterms:created>
  <dcterms:modified xsi:type="dcterms:W3CDTF">2026-06-08T02:06:24Z</dcterms:modified>
  <cp:category/>
</cp:coreProperties>
</file>